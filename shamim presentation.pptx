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3247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87549" y="4160520"/>
            <a:ext cx="9144000" cy="982980"/>
          </a:xfrm>
          <a:prstGeom prst="rect">
            <a:avLst/>
          </a:prstGeom>
          <a:solidFill>
            <a:srgbClr val="EDE8E0"/>
          </a:solidFill>
          <a:ln w="12700">
            <a:solidFill>
              <a:srgbClr val="C8C0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94360"/>
            <a:ext cx="84124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Import–Export Trade</a:t>
            </a:r>
            <a:endParaRPr lang="en-US" sz="4600" dirty="0"/>
          </a:p>
          <a:p>
            <a:pPr marL="0" indent="0" algn="l">
              <a:buNone/>
            </a:pPr>
            <a:r>
              <a:rPr lang="en-US" sz="46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System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Project — BCA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42519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Shamim Fatima Rayeesahmed Khatib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 of Computer Applications (BCA)  |  Nehru BBA &amp; BCA College, Gantikeri, Hubli  |  </a:t>
            </a:r>
            <a:r>
              <a:rPr lang="en-US" sz="1500" dirty="0" smtClean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2025–26</a:t>
            </a:r>
          </a:p>
          <a:p>
            <a:pPr marL="0" indent="0">
              <a:buNone/>
            </a:pPr>
            <a:r>
              <a:rPr lang="en-US" sz="1500" dirty="0" smtClean="0">
                <a:solidFill>
                  <a:srgbClr val="1C2B33"/>
                </a:solidFill>
                <a:latin typeface="Calibri" pitchFamily="34" charset="0"/>
                <a:cs typeface="Calibri" pitchFamily="34" charset="-120"/>
              </a:rPr>
              <a:t>Guide Name: Sana </a:t>
            </a:r>
            <a:r>
              <a:rPr lang="en-US" sz="1500" dirty="0" err="1" smtClean="0">
                <a:solidFill>
                  <a:srgbClr val="1C2B33"/>
                </a:solidFill>
                <a:latin typeface="Calibri" pitchFamily="34" charset="0"/>
                <a:cs typeface="Calibri" pitchFamily="34" charset="-120"/>
              </a:rPr>
              <a:t>Lakkundi</a:t>
            </a:r>
            <a:endParaRPr lang="en-US" sz="1500" dirty="0" smtClean="0">
              <a:solidFill>
                <a:srgbClr val="1C2B33"/>
              </a:solidFill>
              <a:latin typeface="Calibri" pitchFamily="34" charset="0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EDE8E0"/>
          </a:solidFill>
          <a:ln w="12700">
            <a:solidFill>
              <a:srgbClr val="C8C0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1051560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Import–Export Trade Analytics &amp; Why This Project?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023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0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43000"/>
            <a:ext cx="4023360" cy="73152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4358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Trade Analytics?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1719072"/>
            <a:ext cx="64008" cy="438912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700784"/>
            <a:ext cx="35295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countries, billions of daily trade records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64008" cy="438912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450592"/>
            <a:ext cx="35295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raw data into business intelligence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218688"/>
            <a:ext cx="64008" cy="438912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3200400"/>
            <a:ext cx="35295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India's TradeStat government platform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968496"/>
            <a:ext cx="64008" cy="438912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950208"/>
            <a:ext cx="35295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collection, processing &amp; visualization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0" y="1143000"/>
            <a:ext cx="42976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0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1143000"/>
            <a:ext cx="4297680" cy="73152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24358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of this Project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754880" y="1719072"/>
            <a:ext cx="64008" cy="384048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1700784"/>
            <a:ext cx="3803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 importing &amp; exporting countries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754880" y="2331720"/>
            <a:ext cx="64008" cy="384048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2313432"/>
            <a:ext cx="3803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 product trends &amp; seasonal patterns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754880" y="2944368"/>
            <a:ext cx="64008" cy="384048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9472" y="2926080"/>
            <a:ext cx="3803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Power BI dashboards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754880" y="3557016"/>
            <a:ext cx="64008" cy="384048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3538728"/>
            <a:ext cx="3803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manual errors via automation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754880" y="4169664"/>
            <a:ext cx="64008" cy="384048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19472" y="4151376"/>
            <a:ext cx="3803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data-driven strategic decisions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EDE8E0"/>
          </a:solidFill>
          <a:ln w="12700">
            <a:solidFill>
              <a:srgbClr val="C8C0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1051560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Manual Trade Analysis Fails at Scale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trade analysis is inefficient &amp; error-prone at scale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554480"/>
            <a:ext cx="2715768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C0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554480"/>
            <a:ext cx="2715768" cy="73152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700784"/>
            <a:ext cx="244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Data Quality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1480" y="2084832"/>
            <a:ext cx="24414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&amp; incomplete records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172968" y="1554480"/>
            <a:ext cx="2715768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C0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72968" y="1554480"/>
            <a:ext cx="2715768" cy="73152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1700784"/>
            <a:ext cx="244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EDA Support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310128" y="2084832"/>
            <a:ext cx="24414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identify patterns or trends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071616" y="1554480"/>
            <a:ext cx="2715768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C0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71616" y="1554480"/>
            <a:ext cx="2715768" cy="73152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08776" y="1700784"/>
            <a:ext cx="244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Issues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08776" y="2084832"/>
            <a:ext cx="24414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scale with growing data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74320" y="3291840"/>
            <a:ext cx="2715768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C0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291840"/>
            <a:ext cx="2715768" cy="73152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438144"/>
            <a:ext cx="244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Visualization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11480" y="3822192"/>
            <a:ext cx="24414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charts, low clarity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172968" y="3291840"/>
            <a:ext cx="2715768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C0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72968" y="3291840"/>
            <a:ext cx="2715768" cy="73152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0128" y="3438144"/>
            <a:ext cx="244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Outdated Data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310128" y="3822192"/>
            <a:ext cx="24414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data = delayed decisions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EDE8E0"/>
          </a:solidFill>
          <a:ln w="12700">
            <a:solidFill>
              <a:srgbClr val="C8C0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1051560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Core Goals of the Import–Export Trade Analytics System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566928" cy="640080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15568"/>
            <a:ext cx="5669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32688" y="1115568"/>
            <a:ext cx="793699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0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17043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146304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data from TradeStat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74320" y="1901952"/>
            <a:ext cx="566928" cy="640080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901952"/>
            <a:ext cx="5669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32688" y="1901952"/>
            <a:ext cx="793699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0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195681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2249424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&amp; interpret large datasets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74320" y="2688336"/>
            <a:ext cx="566928" cy="640080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688336"/>
            <a:ext cx="5669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932688" y="2688336"/>
            <a:ext cx="793699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0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274320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 smtClean="0">
                <a:solidFill>
                  <a:srgbClr val="1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Insights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97280" y="3035808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top trading </a:t>
            </a:r>
            <a:r>
              <a:rPr lang="en-US" sz="1500" dirty="0" smtClean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274320" y="3474720"/>
            <a:ext cx="566928" cy="640080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474720"/>
            <a:ext cx="5669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932688" y="3474720"/>
            <a:ext cx="793699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0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0" y="352958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97280" y="3822192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via Power BI dashboards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274320" y="4261104"/>
            <a:ext cx="566928" cy="640080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261104"/>
            <a:ext cx="5669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32688" y="4261104"/>
            <a:ext cx="793699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0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97280" y="431596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97280" y="4608576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data-driven decisions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EDE8E0"/>
          </a:solidFill>
          <a:ln w="12700">
            <a:solidFill>
              <a:srgbClr val="C8C0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1051560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 Used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Powering the Trade Analytics System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2715768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C0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15568"/>
            <a:ext cx="2715768" cy="73152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61872"/>
            <a:ext cx="244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1480" y="1627632"/>
            <a:ext cx="2441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formatting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920240"/>
            <a:ext cx="24414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 &amp; formats raw data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172968" y="1115568"/>
            <a:ext cx="2715768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C0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72968" y="1115568"/>
            <a:ext cx="2715768" cy="73152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1261872"/>
            <a:ext cx="244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310128" y="1627632"/>
            <a:ext cx="2441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storage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10128" y="1920240"/>
            <a:ext cx="24414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all trade records; fast SQL queries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71616" y="1115568"/>
            <a:ext cx="2715768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C0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71616" y="1115568"/>
            <a:ext cx="2715768" cy="73152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08776" y="1261872"/>
            <a:ext cx="244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208776" y="1627632"/>
            <a:ext cx="2441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&amp; DB connector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08776" y="1920240"/>
            <a:ext cx="24414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MySQL to Power BI via connector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2944368"/>
            <a:ext cx="2715768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C0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944368"/>
            <a:ext cx="2715768" cy="73152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090672"/>
            <a:ext cx="244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11480" y="3456432"/>
            <a:ext cx="2441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11480" y="3749040"/>
            <a:ext cx="24414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cards, bar charts, trend lines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172968" y="2944368"/>
            <a:ext cx="2715768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C0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72968" y="2944368"/>
            <a:ext cx="2715768" cy="73152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10128" y="3090672"/>
            <a:ext cx="244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Fabric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310128" y="3456432"/>
            <a:ext cx="2441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publishing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310128" y="3749040"/>
            <a:ext cx="24414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Publishes dashboards to cloud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071616" y="2944368"/>
            <a:ext cx="2715768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C0B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71616" y="2944368"/>
            <a:ext cx="2715768" cy="73152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08776" y="3090672"/>
            <a:ext cx="244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208776" y="3456432"/>
            <a:ext cx="2441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IDE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208776" y="3749040"/>
            <a:ext cx="24414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Write, test &amp; debug Python scripts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EDE8E0"/>
          </a:solidFill>
          <a:ln w="12700">
            <a:solidFill>
              <a:srgbClr val="C8C0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1051560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580644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Pipeline Flow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2331720"/>
            <a:ext cx="8595360" cy="128016"/>
          </a:xfrm>
          <a:prstGeom prst="rect">
            <a:avLst/>
          </a:prstGeom>
          <a:solidFill>
            <a:srgbClr val="C8C0B8"/>
          </a:solidFill>
          <a:ln w="12700">
            <a:solidFill>
              <a:srgbClr val="C8C0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6596" y="1184148"/>
            <a:ext cx="129844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0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" y="1115568"/>
            <a:ext cx="1298448" cy="73152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859536"/>
            <a:ext cx="420624" cy="420624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877824"/>
            <a:ext cx="384048" cy="384048"/>
          </a:xfrm>
          <a:prstGeom prst="ellipse">
            <a:avLst/>
          </a:prstGeom>
          <a:solidFill>
            <a:srgbClr val="2E9EB0"/>
          </a:solidFill>
          <a:ln w="12700">
            <a:solidFill>
              <a:srgbClr val="2E9E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8778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01168" y="1225296"/>
            <a:ext cx="1298448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2267712"/>
            <a:ext cx="164592" cy="164592"/>
          </a:xfrm>
          <a:prstGeom prst="ellipse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2376" y="2194560"/>
            <a:ext cx="0" cy="155448"/>
          </a:xfrm>
          <a:prstGeom prst="line">
            <a:avLst/>
          </a:prstGeom>
          <a:noFill/>
          <a:ln w="25400">
            <a:solidFill>
              <a:srgbClr val="1A6B7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45336" y="2377440"/>
            <a:ext cx="73152" cy="0"/>
          </a:xfrm>
          <a:prstGeom prst="line">
            <a:avLst/>
          </a:prstGeom>
          <a:noFill/>
          <a:ln w="25400">
            <a:solidFill>
              <a:srgbClr val="1A6B7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64208" y="2834640"/>
            <a:ext cx="129844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0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64208" y="2834640"/>
            <a:ext cx="1298448" cy="73152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03120" y="2578608"/>
            <a:ext cx="420624" cy="420624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21408" y="2596896"/>
            <a:ext cx="384048" cy="384048"/>
          </a:xfrm>
          <a:prstGeom prst="ellipse">
            <a:avLst/>
          </a:prstGeom>
          <a:solidFill>
            <a:srgbClr val="2E9EB0"/>
          </a:solidFill>
          <a:ln w="12700">
            <a:solidFill>
              <a:srgbClr val="2E9EB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21408" y="25968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664208" y="2944368"/>
            <a:ext cx="1298448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103120" y="2267712"/>
            <a:ext cx="164592" cy="164592"/>
          </a:xfrm>
          <a:prstGeom prst="ellipse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85416" y="2432304"/>
            <a:ext cx="0" cy="402336"/>
          </a:xfrm>
          <a:prstGeom prst="line">
            <a:avLst/>
          </a:prstGeom>
          <a:noFill/>
          <a:ln w="25400">
            <a:solidFill>
              <a:srgbClr val="1A6B7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08376" y="2377440"/>
            <a:ext cx="73152" cy="0"/>
          </a:xfrm>
          <a:prstGeom prst="line">
            <a:avLst/>
          </a:prstGeom>
          <a:noFill/>
          <a:ln w="25400">
            <a:solidFill>
              <a:srgbClr val="1A6B7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27248" y="1115568"/>
            <a:ext cx="129844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0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27248" y="1115568"/>
            <a:ext cx="1298448" cy="73152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66160" y="859536"/>
            <a:ext cx="420624" cy="420624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84448" y="877824"/>
            <a:ext cx="384048" cy="384048"/>
          </a:xfrm>
          <a:prstGeom prst="ellipse">
            <a:avLst/>
          </a:prstGeom>
          <a:solidFill>
            <a:srgbClr val="2E9EB0"/>
          </a:solidFill>
          <a:ln w="12700">
            <a:solidFill>
              <a:srgbClr val="2E9EB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84448" y="8778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127248" y="1225296"/>
            <a:ext cx="1298448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566160" y="2267712"/>
            <a:ext cx="164592" cy="164592"/>
          </a:xfrm>
          <a:prstGeom prst="ellipse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48456" y="2194560"/>
            <a:ext cx="0" cy="155448"/>
          </a:xfrm>
          <a:prstGeom prst="line">
            <a:avLst/>
          </a:prstGeom>
          <a:noFill/>
          <a:ln w="25400">
            <a:solidFill>
              <a:srgbClr val="1A6B7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71416" y="2377440"/>
            <a:ext cx="73152" cy="0"/>
          </a:xfrm>
          <a:prstGeom prst="line">
            <a:avLst/>
          </a:prstGeom>
          <a:noFill/>
          <a:ln w="25400">
            <a:solidFill>
              <a:srgbClr val="1A6B7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90288" y="2834640"/>
            <a:ext cx="129844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0B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90288" y="2834640"/>
            <a:ext cx="1298448" cy="73152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29200" y="2578608"/>
            <a:ext cx="420624" cy="420624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47488" y="2596896"/>
            <a:ext cx="384048" cy="384048"/>
          </a:xfrm>
          <a:prstGeom prst="ellipse">
            <a:avLst/>
          </a:prstGeom>
          <a:solidFill>
            <a:srgbClr val="2E9EB0"/>
          </a:solidFill>
          <a:ln w="12700">
            <a:solidFill>
              <a:srgbClr val="2E9EB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47488" y="25968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590288" y="2944368"/>
            <a:ext cx="1298448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029200" y="2267712"/>
            <a:ext cx="164592" cy="164592"/>
          </a:xfrm>
          <a:prstGeom prst="ellipse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111496" y="2432304"/>
            <a:ext cx="0" cy="402336"/>
          </a:xfrm>
          <a:prstGeom prst="line">
            <a:avLst/>
          </a:prstGeom>
          <a:noFill/>
          <a:ln w="25400">
            <a:solidFill>
              <a:srgbClr val="1A6B7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934456" y="2377440"/>
            <a:ext cx="73152" cy="0"/>
          </a:xfrm>
          <a:prstGeom prst="line">
            <a:avLst/>
          </a:prstGeom>
          <a:noFill/>
          <a:ln w="25400">
            <a:solidFill>
              <a:srgbClr val="1A6B7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053328" y="1115568"/>
            <a:ext cx="129844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0B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53328" y="1115568"/>
            <a:ext cx="1298448" cy="73152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92240" y="859536"/>
            <a:ext cx="420624" cy="420624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10528" y="877824"/>
            <a:ext cx="384048" cy="384048"/>
          </a:xfrm>
          <a:prstGeom prst="ellipse">
            <a:avLst/>
          </a:prstGeom>
          <a:solidFill>
            <a:srgbClr val="2E9EB0"/>
          </a:solidFill>
          <a:ln w="12700">
            <a:solidFill>
              <a:srgbClr val="2E9EB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10528" y="8778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053328" y="1225296"/>
            <a:ext cx="1298448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Fabric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6492240" y="2267712"/>
            <a:ext cx="164592" cy="164592"/>
          </a:xfrm>
          <a:prstGeom prst="ellipse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574536" y="2194560"/>
            <a:ext cx="0" cy="155448"/>
          </a:xfrm>
          <a:prstGeom prst="line">
            <a:avLst/>
          </a:prstGeom>
          <a:noFill/>
          <a:ln w="25400">
            <a:solidFill>
              <a:srgbClr val="1A6B7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397496" y="2377440"/>
            <a:ext cx="73152" cy="0"/>
          </a:xfrm>
          <a:prstGeom prst="line">
            <a:avLst/>
          </a:prstGeom>
          <a:noFill/>
          <a:ln w="25400">
            <a:solidFill>
              <a:srgbClr val="1A6B7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516368" y="2834640"/>
            <a:ext cx="129844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0B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516368" y="2834640"/>
            <a:ext cx="1298448" cy="73152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955280" y="2578608"/>
            <a:ext cx="420624" cy="420624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973568" y="2596896"/>
            <a:ext cx="384048" cy="384048"/>
          </a:xfrm>
          <a:prstGeom prst="ellipse">
            <a:avLst/>
          </a:prstGeom>
          <a:solidFill>
            <a:srgbClr val="2E9EB0"/>
          </a:solidFill>
          <a:ln w="12700">
            <a:solidFill>
              <a:srgbClr val="2E9EB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973568" y="25968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7516368" y="2944368"/>
            <a:ext cx="1298448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UI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7955280" y="2267712"/>
            <a:ext cx="164592" cy="164592"/>
          </a:xfrm>
          <a:prstGeom prst="ellipse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037576" y="2432304"/>
            <a:ext cx="0" cy="402336"/>
          </a:xfrm>
          <a:prstGeom prst="line">
            <a:avLst/>
          </a:prstGeom>
          <a:noFill/>
          <a:ln w="25400">
            <a:solidFill>
              <a:srgbClr val="1A6B7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74320" y="4224528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automated pipeline: Excel → MySQL → Python → Power BI → Cloud → User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EDE8E0"/>
          </a:solidFill>
          <a:ln w="12700">
            <a:solidFill>
              <a:srgbClr val="C8C0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1051560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System Works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7-Step Data Processing Workflow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82880" y="1115568"/>
            <a:ext cx="21031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0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1115568"/>
            <a:ext cx="2103120" cy="73152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1115568"/>
            <a:ext cx="402336" cy="402336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11155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74320" y="159105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74320" y="1956816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from TradeStat (CSV/Excel)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423160" y="1115568"/>
            <a:ext cx="21031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0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23160" y="1115568"/>
            <a:ext cx="2103120" cy="73152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23160" y="1115568"/>
            <a:ext cx="402336" cy="402336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23160" y="11155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514600" y="159105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2514600" y="1956816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duplicates, fix missing values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1115568"/>
            <a:ext cx="21031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0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1115568"/>
            <a:ext cx="2103120" cy="73152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1115568"/>
            <a:ext cx="402336" cy="402336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11155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754880" y="159105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Storage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754880" y="1956816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into MySQL database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903720" y="1115568"/>
            <a:ext cx="21031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0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03720" y="1115568"/>
            <a:ext cx="2103120" cy="73152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03720" y="1115568"/>
            <a:ext cx="402336" cy="402336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03720" y="11155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995160" y="159105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Connection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995160" y="1956816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Power BI to MySQL via Python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82880" y="2944368"/>
            <a:ext cx="21031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0B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2880" y="2944368"/>
            <a:ext cx="2103120" cy="73152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82880" y="2944368"/>
            <a:ext cx="402336" cy="402336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2880" y="29443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274320" y="341985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274320" y="3785616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KPIs, charts &amp; analytics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423160" y="2944368"/>
            <a:ext cx="21031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0B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23160" y="2944368"/>
            <a:ext cx="2103120" cy="73152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23160" y="2944368"/>
            <a:ext cx="402336" cy="402336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23160" y="29443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2514600" y="341985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via MS Fabric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2514600" y="3785616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to Microsoft Fabric cloud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663440" y="2944368"/>
            <a:ext cx="21031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0B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63440" y="2944368"/>
            <a:ext cx="2103120" cy="73152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63440" y="2944368"/>
            <a:ext cx="402336" cy="402336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63440" y="29443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4754880" y="341985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UI Output</a:t>
            </a:r>
            <a:endParaRPr lang="en-US" sz="1700" dirty="0"/>
          </a:p>
        </p:txBody>
      </p:sp>
      <p:sp>
        <p:nvSpPr>
          <p:cNvPr id="47" name="Text 45"/>
          <p:cNvSpPr/>
          <p:nvPr/>
        </p:nvSpPr>
        <p:spPr>
          <a:xfrm>
            <a:off x="4754880" y="3785616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with filters &amp; drill-downs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EDE8E0"/>
          </a:solidFill>
          <a:ln w="12700">
            <a:solidFill>
              <a:srgbClr val="C8C0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1051560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 &amp; Login Interface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IndiaTradeHub — System Frontend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577840" y="111556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 Features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577840" y="1554480"/>
            <a:ext cx="1042416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0B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577840" y="1554480"/>
            <a:ext cx="1042416" cy="73152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577840" y="1645920"/>
            <a:ext cx="10424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 smtClean="0">
                <a:solidFill>
                  <a:srgbClr val="1A6B7A"/>
                </a:solidFill>
                <a:latin typeface="Calibri" pitchFamily="34" charset="0"/>
                <a:cs typeface="Calibri" pitchFamily="34" charset="-120"/>
              </a:rPr>
              <a:t>25K+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577840" y="1993392"/>
            <a:ext cx="1042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 smtClean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Total Trade Records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729984" y="1554480"/>
            <a:ext cx="1042416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0B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729984" y="1554480"/>
            <a:ext cx="1042416" cy="73152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29984" y="1645920"/>
            <a:ext cx="10424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 smtClean="0">
                <a:solidFill>
                  <a:srgbClr val="1A6B7A"/>
                </a:solidFill>
                <a:latin typeface="Calibri" pitchFamily="34" charset="0"/>
                <a:cs typeface="Calibri" pitchFamily="34" charset="-120"/>
              </a:rPr>
              <a:t>6000+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729984" y="1993392"/>
            <a:ext cx="1042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 smtClean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Products Analyzed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882128" y="1554480"/>
            <a:ext cx="1042416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0B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882128" y="1554480"/>
            <a:ext cx="1042416" cy="73152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882128" y="1645920"/>
            <a:ext cx="10424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 smtClean="0">
                <a:solidFill>
                  <a:srgbClr val="1A6B7A"/>
                </a:solidFill>
                <a:latin typeface="Calibri" pitchFamily="34" charset="0"/>
                <a:cs typeface="Calibri" pitchFamily="34" charset="-120"/>
              </a:rPr>
              <a:t>2 Years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882128" y="1993392"/>
            <a:ext cx="1042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 smtClean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Years of Analysis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577840" y="2523744"/>
            <a:ext cx="64008" cy="402336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742432" y="2505456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access to dashboards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5577840" y="3054096"/>
            <a:ext cx="64008" cy="402336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742432" y="3035808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Navigation: Home, Architecture, Dashboard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5577840" y="3584448"/>
            <a:ext cx="64008" cy="402336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742432" y="3566160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 &amp; registration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5577840" y="4114800"/>
            <a:ext cx="64008" cy="402336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742432" y="4096512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for daily use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274320" y="4479102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→ Dashboard for full analytics</a:t>
            </a:r>
            <a:endParaRPr lang="en-US" sz="1300" dirty="0"/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160558"/>
            <a:ext cx="5314845" cy="324539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EDE8E0"/>
          </a:solidFill>
          <a:ln w="12700">
            <a:solidFill>
              <a:srgbClr val="C8C0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1051560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Analytics Results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— Trade Performance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577840" y="11155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KPIs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577840" y="1536192"/>
            <a:ext cx="1609344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C0B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577840" y="1536192"/>
            <a:ext cx="1609344" cy="73152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577840" y="1627632"/>
            <a:ext cx="1609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9M ₹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5577840" y="1975104"/>
            <a:ext cx="1609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Exports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315200" y="1536192"/>
            <a:ext cx="1609344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C0B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315200" y="1536192"/>
            <a:ext cx="1609344" cy="73152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0" y="1627632"/>
            <a:ext cx="1609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13M ₹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7315200" y="1975104"/>
            <a:ext cx="1609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Imports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577840" y="2432304"/>
            <a:ext cx="1609344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C0B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577840" y="2432304"/>
            <a:ext cx="1609344" cy="73152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77840" y="2523744"/>
            <a:ext cx="1609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-4.57M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5577840" y="2871216"/>
            <a:ext cx="1609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Balance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315200" y="2432304"/>
            <a:ext cx="1609344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C0B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315200" y="2432304"/>
            <a:ext cx="1609344" cy="73152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15200" y="2523744"/>
            <a:ext cx="1609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22M ₹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7315200" y="2871216"/>
            <a:ext cx="1609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Trade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577840" y="33832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5577840" y="3785616"/>
            <a:ext cx="64008" cy="329184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742432" y="376732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Imports exceed exports → trade deficit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5577840" y="4215384"/>
            <a:ext cx="64008" cy="329184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742432" y="419709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Petroleum Oils: highest trade value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5577840" y="4645152"/>
            <a:ext cx="64008" cy="329184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742432" y="462686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growth: 10M → 11M (2023–25)</a:t>
            </a:r>
            <a:endParaRPr lang="en-US" sz="1500" dirty="0"/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20" y="1225685"/>
            <a:ext cx="5494212" cy="340117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EDE8E0"/>
          </a:solidFill>
          <a:ln w="12700">
            <a:solidFill>
              <a:srgbClr val="C8C0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1051560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Future Scope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Delivers Today &amp; Where It Can Go Tomorrow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40690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0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15568"/>
            <a:ext cx="4069080" cy="73152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0700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1682496"/>
            <a:ext cx="64008" cy="402336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6642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Pipeline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21792" y="19202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all manual data tasks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304288"/>
            <a:ext cx="64008" cy="402336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286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&amp; More Accurate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1792" y="254203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&amp; more accurate results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64008" cy="402336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290779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Processing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1792" y="316382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with large data volumes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547872"/>
            <a:ext cx="64008" cy="402336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352958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Visualization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1792" y="378561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reveal hidden trends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169664"/>
            <a:ext cx="64008" cy="402336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415137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Manual Effort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21792" y="44074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time for strategy, less for data prep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17720" y="1115568"/>
            <a:ext cx="42519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0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17720" y="1115568"/>
            <a:ext cx="4251960" cy="73152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120700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800600" y="1682496"/>
            <a:ext cx="402336" cy="402336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168249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03520" y="170078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Integration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303520" y="1993392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from TradeStat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800600" y="2450592"/>
            <a:ext cx="402336" cy="402336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24505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03520" y="24688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Predictions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303520" y="2761488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trade forecasting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800600" y="3218688"/>
            <a:ext cx="402336" cy="402336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32186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303520" y="323697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Dashboard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5303520" y="3529584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Browser-accessible web dashboard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800600" y="3986784"/>
            <a:ext cx="402336" cy="402336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398678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303520" y="40050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Data Sources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5303520" y="4297680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WTO &amp; global platforms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EDE8E0"/>
          </a:solidFill>
          <a:ln w="12700">
            <a:solidFill>
              <a:srgbClr val="C8C0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1051560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raw trade data into actionable insights using Power BI &amp; automation.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2048256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0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048256"/>
            <a:ext cx="8412480" cy="73152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048256"/>
            <a:ext cx="128016" cy="530352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08483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end-to-end pipeline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670048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0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670048"/>
            <a:ext cx="8412480" cy="73152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670048"/>
            <a:ext cx="128016" cy="530352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706624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dashboards with KPIs &amp; trends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65760" y="3291840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0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291840"/>
            <a:ext cx="8412480" cy="73152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291840"/>
            <a:ext cx="128016" cy="530352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328416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MySQL backend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65760" y="3913632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0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913632"/>
            <a:ext cx="8412480" cy="73152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913632"/>
            <a:ext cx="128016" cy="530352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395020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real-time &amp; ML upgrades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590288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634</Words>
  <Application>Microsoft Office PowerPoint</Application>
  <PresentationFormat>On-screen Show (16:9)</PresentationFormat>
  <Paragraphs>186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Import-Export Trade Analytics System</dc:title>
  <dc:subject>PptxGenJS Presentation</dc:subject>
  <dc:creator>PptxGenJS</dc:creator>
  <cp:lastModifiedBy>dell</cp:lastModifiedBy>
  <cp:revision>5</cp:revision>
  <dcterms:created xsi:type="dcterms:W3CDTF">2026-05-22T09:19:41Z</dcterms:created>
  <dcterms:modified xsi:type="dcterms:W3CDTF">2026-05-23T11:25:33Z</dcterms:modified>
</cp:coreProperties>
</file>